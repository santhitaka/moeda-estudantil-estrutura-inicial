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0:30
ROTEIRO DE FALA:
Apresentar o nome do projeto, a disciplina e os integrantes. Dizer que a apresentação será dividida em problema, arquitetura, tecnologias, testes e demonstração. Inserir verbalmente os nomes do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Explicar que o desafio do laboratório é criar um sistema que reconheça o mérito estudantil com moeda virtual. O professor distribui, o aluno acumula e a empresa oferece vantagens. A solução cria um ciclo de incentivo, sempre com transações registradas.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Apresentar os três perfis. Aluno se cadastra e faz resgates. Professor é pré-cadastrado pela instituição, ganha moedas por semestre e envia recompensas. Empresa cria ofertas. Destacar o controle de permissões e que o professor não possui cadastro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0:45
ROTEIRO DE FALA:
Explicar brevemente a continuidade entre sprints: na primeira modelamos, na segunda criamos o banco e os primeiros cadastros, e na terceira consolidamos os CRUDs e integramos as funcionalidades centrais. A apresentação evidencia aderência entre modelos 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Mostrar as funcionalidades implementadas: cadastros, login, créditos semestrais, transferências, extratos, vantagens e cupons. Explicar com transparência que o sistema registra notificações e simula e-mail em desenvolvimento; o envio via SMTP real depende de configuração externa.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2:00
ROTEIRO DE FALA:
Tutorial da arquitetura: explicar que a View é HTML/CSS/JavaScript e faz fetch. O Controller recebe requisições REST e aciona o Service. O Service aplica regras, e os repositórios JPA conversam com o banco. Exemplo: aluno clica em resgatar; POST chega ao controller; o service valida saldo, desconta e cria cupom; JPA salva no H2; a resposta aparece na View. Ressaltar separação de responsabilidades e facilidade para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Mostrar o diagrama de componentes que o grupo já produziu. Apontar as divisões View, Controller, Model, banco e e-mail; explicar que o código foi organizado em controller, model.entity, model.service, model.repository, infrastructure e static. O diagrama é simplificado e deve ser atualizado se o projeto final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1:30
ROTEIRO DE FALA:
Explicar a persistência. Spring Data JPA fornece repositórios, Hibernate mapeia as entidades Java para tabelas do banco H2. Usuario usa herança JOINED para aluno, professor e empresa. Conta armazena saldo, Transacao registra crédito/débito, Vantagem tem empresa proprietária e Resgate relaciona aluno à vantagem e gera cupom. O relacionamento exibido aqui é um resumo conceitual, não o diagrama ER completo. Banco H2 em arquivo permite persistência após reiniciar; testes isolados usam H2 em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Explicar que cada professor recebe mil moedas por semestre. Exemplo: se não gastou 200, no próximo período fica com 1.200. O código verifica a existência do crédito do semestre antes de liberar novo crédito; transferências exigem saldo suficiente e motivo obrigatório, e geram lançamentos de débito e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Explicar o resgate em quatro passos: aluno seleciona vantagem; aplicação verifica saldo; service desconta e salva resgate e transação na mesma transação de banco; sistema gera um cupom. Exemplificar com 150, desconto de 100 e saldo de 50. Notificações para aluno e empresa incluem o mesmo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Mostrar que senhas são armazenadas como hash BCrypt, não texto puro. Spring Security gerencia a sessão, os perfis e o CSRF. Somente professor transfere, aluno resgata, empresa gerencia vantagens. O Service também confere o proprietário em operações sensíveis; não confiar apenas em esconder botões da interface. Pontuar que esta versão ainda é protótipo acadêmico, não implantação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Relatar que o grupo executou os testes automatizados e encontrou resultados aprovados nos módulos trabalhados. Falar sobre JUnit para regras, MockMvc para endpoints, H2 em memória para isolamento e testes manuais no navegador. Destacar cenários saldo insuficiente, CPF/CNPJ inválido, acesso não permitido e geração do cupom. Não afirmar métricas de cobertura ou carga sem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Apresentar as tecnologias escolhidas em formato tutorial: Java 21 e dependências no pom.xml; execução pelo launch do VS Code; acesso no navegador localhost:8080; dados no H2. Em uma requisição, mostrar os papéis de RestController, Service com Transactional e Repository. Caso haja computador de demonstração, apontar rapidamente esses arquivos no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5:00
ROTEIRO DE FALA:
FAZER DEMO REAL NO NAVEGADOR. Primeiros 75s: entrar como professor e conferir 1000 moedas ou saldo atual; transferir 150 a um aluno com motivo. Próximos 60s: sair e entrar como empresa parceira, cadastrar vantagem de 100 moedas com foto; se já existir, usá-la. Próximos 105s: entrar como aluno, mostrar recebimento no extrato e resgatar a vantagem; confirmar saldo. Últimos 60s: mostrar Meus cupons, código gerado e terminal com e-mails simulados. IMPORTANTE: não prometer exatamente 1000/150/50 se o banco já tiver movimentos; apresentar diferença correta. Ter contas e vantagem preparadas antes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1:00
ROTEIRO DE FALA:
Valorizar o que foi construído sem dizer que o produto está pronto para produção. O ciclo principal está demonstrável e os testes foram aprovados pelo grupo. Para uso real, ainda seria necessário configurar SMTP, criar um procedimento de conferência/validação dos cupons pela empresa, reforçar resiliência das notificações, concorrência, segurança e deployment. O repositório e os diagramas precisam permanecer atualizados para 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0:30
ROTEIRO DE FALA:
Reforçar que a equipe saiu dos requisitos e diagramas para um protótipo com os três atores, movimentos de moedas, resgate e cupom, utilizando MVC e persistência.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5448"/>
            <a:ext cx="3127248" cy="3127248"/>
          </a:xfrm>
          <a:prstGeom prst="ellipse">
            <a:avLst>
              <a:gd name="adj" fmla="val 5848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65208" y="804672"/>
            <a:ext cx="1929384" cy="1929384"/>
          </a:xfrm>
          <a:prstGeom prst="ellipse">
            <a:avLst>
              <a:gd name="adj" fmla="val 9479"/>
            </a:avLst>
          </a:prstGeom>
          <a:solidFill>
            <a:srgbClr val="0A1830"/>
          </a:solidFill>
          <a:ln w="12700">
            <a:solidFill>
              <a:srgbClr val="0A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4352544"/>
            <a:ext cx="2350008" cy="2350008"/>
          </a:xfrm>
          <a:prstGeom prst="ellipse">
            <a:avLst>
              <a:gd name="adj" fmla="val 7782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108192"/>
            <a:ext cx="10744200" cy="0"/>
          </a:xfrm>
          <a:prstGeom prst="line">
            <a:avLst/>
          </a:prstGeom>
          <a:noFill/>
          <a:ln w="12700">
            <a:solidFill>
              <a:srgbClr val="4256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566160"/>
            <a:ext cx="82296" cy="82296"/>
          </a:xfrm>
          <a:prstGeom prst="ellipse">
            <a:avLst>
              <a:gd name="adj" fmla="val 222222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3438144"/>
            <a:ext cx="82296" cy="82296"/>
          </a:xfrm>
          <a:prstGeom prst="ellipse">
            <a:avLst>
              <a:gd name="adj" fmla="val 222222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99448" y="3310128"/>
            <a:ext cx="82296" cy="82296"/>
          </a:xfrm>
          <a:prstGeom prst="ellipse">
            <a:avLst>
              <a:gd name="adj" fmla="val 222222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28632" y="3566160"/>
            <a:ext cx="82296" cy="82296"/>
          </a:xfrm>
          <a:prstGeom prst="ellipse">
            <a:avLst>
              <a:gd name="adj" fmla="val 222222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57816" y="3438144"/>
            <a:ext cx="82296" cy="82296"/>
          </a:xfrm>
          <a:prstGeom prst="ellipse">
            <a:avLst>
              <a:gd name="adj" fmla="val 222222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3310128"/>
            <a:ext cx="82296" cy="82296"/>
          </a:xfrm>
          <a:prstGeom prst="ellipse">
            <a:avLst>
              <a:gd name="adj" fmla="val 222222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16184" y="3566160"/>
            <a:ext cx="82296" cy="82296"/>
          </a:xfrm>
          <a:prstGeom prst="ellipse">
            <a:avLst>
              <a:gd name="adj" fmla="val 222222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45368" y="3438144"/>
            <a:ext cx="82296" cy="82296"/>
          </a:xfrm>
          <a:prstGeom prst="ellipse">
            <a:avLst>
              <a:gd name="adj" fmla="val 222222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3310128"/>
            <a:ext cx="82296" cy="82296"/>
          </a:xfrm>
          <a:prstGeom prst="ellipse">
            <a:avLst>
              <a:gd name="adj" fmla="val 222222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6840" y="1993392"/>
            <a:ext cx="1956816" cy="1956816"/>
          </a:xfrm>
          <a:prstGeom prst="ellipse">
            <a:avLst>
              <a:gd name="adj" fmla="val 9346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16568" y="2103120"/>
            <a:ext cx="1737360" cy="1737360"/>
          </a:xfrm>
          <a:prstGeom prst="ellipse">
            <a:avLst>
              <a:gd name="adj" fmla="val 10526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039112"/>
            <a:ext cx="1956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C7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0789920" y="3465576"/>
            <a:ext cx="804672" cy="804672"/>
          </a:xfrm>
          <a:prstGeom prst="ellipse">
            <a:avLst>
              <a:gd name="adj" fmla="val 22727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99648" y="3575304"/>
            <a:ext cx="585216" cy="585216"/>
          </a:xfrm>
          <a:prstGeom prst="ellipse">
            <a:avLst>
              <a:gd name="adj" fmla="val 31250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0" y="3511296"/>
            <a:ext cx="804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C7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758952" y="694944"/>
            <a:ext cx="3127248" cy="310896"/>
          </a:xfrm>
          <a:prstGeom prst="roundRect">
            <a:avLst>
              <a:gd name="adj" fmla="val 58824"/>
            </a:avLst>
          </a:prstGeom>
          <a:solidFill>
            <a:srgbClr val="203A5E"/>
          </a:solidFill>
          <a:ln w="12700">
            <a:solidFill>
              <a:srgbClr val="203A5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722376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D8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03  •  APRESENTAÇÃO FINAL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1444752"/>
            <a:ext cx="6995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SISTEMA DE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77240" y="2084832"/>
            <a:ext cx="8321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MOEDA ESTUDANTIL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777240" y="3191256"/>
            <a:ext cx="996696" cy="77724"/>
          </a:xfrm>
          <a:prstGeom prst="roundRect">
            <a:avLst>
              <a:gd name="adj" fmla="val 235294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021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DC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mérito acadêmico à recompensa real.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86384" y="4608576"/>
            <a:ext cx="8686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D1D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MVC   •   Java / Spring Boot   •   Persistência JPA/H2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777240" y="6336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A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|  Projeto de Software  |  Laboratório 3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10652760" y="631850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C7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CONTEXTO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reconhecimento também pode gerar oportunidades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plataforma conecta mérito acadêmico, professores, estudantes e parceiros.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9224" y="1947672"/>
            <a:ext cx="5074920" cy="3611880"/>
          </a:xfrm>
          <a:prstGeom prst="roundRect">
            <a:avLst>
              <a:gd name="adj" fmla="val 4304"/>
            </a:avLst>
          </a:prstGeom>
          <a:solidFill>
            <a:srgbClr val="0A183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331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70" kern="0" dirty="0">
                <a:solidFill>
                  <a:srgbClr val="3AD8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2834640"/>
            <a:ext cx="4425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Valorizar atitudes positivas dos alunos de forma estruturada.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78408" y="4608576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3D2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Participação em aula, colaboração e bom comportamento se tornam reconhecimento registrado.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08192" y="2240280"/>
            <a:ext cx="5376672" cy="932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2432304"/>
            <a:ext cx="530352" cy="530352"/>
          </a:xfrm>
          <a:prstGeom prst="ellipse">
            <a:avLst>
              <a:gd name="adj" fmla="val 34483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0088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77456" y="2386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reconhece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077456" y="2752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 moedas com justificativa.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108192" y="3401568"/>
            <a:ext cx="5376672" cy="932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4224" y="3593592"/>
            <a:ext cx="530352" cy="530352"/>
          </a:xfrm>
          <a:prstGeom prst="ellipse">
            <a:avLst>
              <a:gd name="adj" fmla="val 34483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66217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77456" y="3547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acumula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077456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saldo e extrato.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108192" y="4562856"/>
            <a:ext cx="5376672" cy="9326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4224" y="4754880"/>
            <a:ext cx="530352" cy="530352"/>
          </a:xfrm>
          <a:prstGeom prst="ellipse">
            <a:avLst>
              <a:gd name="adj" fmla="val 34483"/>
            </a:avLst>
          </a:prstGeom>
          <a:solidFill>
            <a:srgbClr val="D19A3E"/>
          </a:solidFill>
          <a:ln w="12700">
            <a:solidFill>
              <a:srgbClr val="D19A3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482346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77456" y="4709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recompensa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077456" y="5074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Oferece produtos e descontos.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USUÁRIOS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Três perfis. Uma experiência integrada.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perfil possui permissões e jornadas próprias.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9224" y="2029968"/>
            <a:ext cx="3611880" cy="361188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29968"/>
            <a:ext cx="3611880" cy="91440"/>
          </a:xfrm>
          <a:prstGeom prst="rect">
            <a:avLst>
              <a:gd name="adj" fmla="val 200000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2386584"/>
            <a:ext cx="530352" cy="530352"/>
          </a:xfrm>
          <a:prstGeom prst="ellipse">
            <a:avLst>
              <a:gd name="adj" fmla="val 34483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45516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45336" y="24231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3544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Participar e trocar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2688" y="3767328"/>
            <a:ext cx="82296" cy="82296"/>
          </a:xfrm>
          <a:prstGeom prst="ellipse">
            <a:avLst>
              <a:gd name="adj" fmla="val 222222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689604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 e autenticação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932688" y="4197096"/>
            <a:ext cx="82296" cy="82296"/>
          </a:xfrm>
          <a:prstGeom prst="ellipse">
            <a:avLst>
              <a:gd name="adj" fmla="val 222222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11937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e extrato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32688" y="4626864"/>
            <a:ext cx="82296" cy="82296"/>
          </a:xfrm>
          <a:prstGeom prst="ellipse">
            <a:avLst>
              <a:gd name="adj" fmla="val 222222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5491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vantagens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932688" y="5056632"/>
            <a:ext cx="82296" cy="82296"/>
          </a:xfrm>
          <a:prstGeom prst="ellipse">
            <a:avLst>
              <a:gd name="adj" fmla="val 222222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9789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Resgate e cupom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4507992" y="2029968"/>
            <a:ext cx="3611880" cy="361188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7992" y="2029968"/>
            <a:ext cx="3611880" cy="91440"/>
          </a:xfrm>
          <a:prstGeom prst="rect">
            <a:avLst>
              <a:gd name="adj" fmla="val 200000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2386584"/>
            <a:ext cx="530352" cy="530352"/>
          </a:xfrm>
          <a:prstGeom prst="ellipse">
            <a:avLst>
              <a:gd name="adj" fmla="val 34483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45516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04104" y="24231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82312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Reconhecer o mérito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91456" y="3767328"/>
            <a:ext cx="82296" cy="82296"/>
          </a:xfrm>
          <a:prstGeom prst="ellipse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689604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Pré-cadastro institucional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4791456" y="4197096"/>
            <a:ext cx="82296" cy="82296"/>
          </a:xfrm>
          <a:prstGeom prst="ellipse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11937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Crédito de 1.000 por semestre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4791456" y="4626864"/>
            <a:ext cx="82296" cy="82296"/>
          </a:xfrm>
          <a:prstGeom prst="ellipse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5491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com motivo obrigatório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4791456" y="5056632"/>
            <a:ext cx="82296" cy="82296"/>
          </a:xfrm>
          <a:prstGeom prst="ellipse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9789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Extrato de distribuições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8366760" y="2029968"/>
            <a:ext cx="3611880" cy="3611880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6760" y="2029968"/>
            <a:ext cx="3611880" cy="91440"/>
          </a:xfrm>
          <a:prstGeom prst="rect">
            <a:avLst>
              <a:gd name="adj" fmla="val 200000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2386584"/>
            <a:ext cx="530352" cy="530352"/>
          </a:xfrm>
          <a:prstGeom prst="ellipse">
            <a:avLst>
              <a:gd name="adj" fmla="val 34483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245516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262872" y="24231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41080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Oferecer benefícios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50224" y="3767328"/>
            <a:ext cx="82296" cy="82296"/>
          </a:xfrm>
          <a:prstGeom prst="ellipse">
            <a:avLst>
              <a:gd name="adj" fmla="val 222222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14816" y="3689604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 e autenticação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8650224" y="4197096"/>
            <a:ext cx="82296" cy="82296"/>
          </a:xfrm>
          <a:prstGeom prst="ellipse">
            <a:avLst>
              <a:gd name="adj" fmla="val 222222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14816" y="411937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de vantagens</a:t>
            </a:r>
            <a:endParaRPr lang="en-US" sz="1130" dirty="0"/>
          </a:p>
        </p:txBody>
      </p:sp>
      <p:sp>
        <p:nvSpPr>
          <p:cNvPr id="51" name="Shape 49"/>
          <p:cNvSpPr/>
          <p:nvPr/>
        </p:nvSpPr>
        <p:spPr>
          <a:xfrm>
            <a:off x="8650224" y="4626864"/>
            <a:ext cx="82296" cy="82296"/>
          </a:xfrm>
          <a:prstGeom prst="ellipse">
            <a:avLst>
              <a:gd name="adj" fmla="val 222222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14816" y="45491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do custo em moedas</a:t>
            </a:r>
            <a:endParaRPr lang="en-US" sz="1130" dirty="0"/>
          </a:p>
        </p:txBody>
      </p:sp>
      <p:sp>
        <p:nvSpPr>
          <p:cNvPr id="53" name="Shape 51"/>
          <p:cNvSpPr/>
          <p:nvPr/>
        </p:nvSpPr>
        <p:spPr>
          <a:xfrm>
            <a:off x="8650224" y="5056632"/>
            <a:ext cx="82296" cy="82296"/>
          </a:xfrm>
          <a:prstGeom prst="ellipse">
            <a:avLst>
              <a:gd name="adj" fmla="val 222222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14816" y="49789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Recebimento do código de cupom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PROCESSO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Evolução do projeto em três sprints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modelagem UML ao protótipo funcional.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335024" y="3017520"/>
            <a:ext cx="9454896" cy="0"/>
          </a:xfrm>
          <a:prstGeom prst="line">
            <a:avLst/>
          </a:prstGeom>
          <a:noFill/>
          <a:ln w="635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176272"/>
            <a:ext cx="3529584" cy="3218688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752344"/>
            <a:ext cx="566928" cy="566928"/>
          </a:xfrm>
          <a:prstGeom prst="ellipse">
            <a:avLst>
              <a:gd name="adj" fmla="val 32258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8529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3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Modelagem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69264" y="4261104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uso, histórias de usuário, classes e componentes.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4572000" y="2176272"/>
            <a:ext cx="3529584" cy="3218688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752344"/>
            <a:ext cx="566928" cy="566928"/>
          </a:xfrm>
          <a:prstGeom prst="ellipse">
            <a:avLst>
              <a:gd name="adj" fmla="val 32258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529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30" kern="0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02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59359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Fundação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4809744" y="4261104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ER, persistência e CRUD inicial de alunos e empresas.</a:t>
            </a:r>
            <a:endParaRPr lang="en-US" sz="1310" dirty="0"/>
          </a:p>
        </p:txBody>
      </p:sp>
      <p:sp>
        <p:nvSpPr>
          <p:cNvPr id="26" name="Shape 24"/>
          <p:cNvSpPr/>
          <p:nvPr/>
        </p:nvSpPr>
        <p:spPr>
          <a:xfrm>
            <a:off x="8412480" y="2176272"/>
            <a:ext cx="3529584" cy="3218688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2752344"/>
            <a:ext cx="566928" cy="566928"/>
          </a:xfrm>
          <a:prstGeom prst="ellipse">
            <a:avLst>
              <a:gd name="adj" fmla="val 32258"/>
            </a:avLst>
          </a:prstGeom>
          <a:solidFill>
            <a:srgbClr val="C69433"/>
          </a:solidFill>
          <a:ln w="12700">
            <a:solidFill>
              <a:srgbClr val="C694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28529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4108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30" kern="0" dirty="0">
                <a:solidFill>
                  <a:srgbClr val="C69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41080" y="359359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Integração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8650224" y="4261104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CRUDs finais, arquitetura MVC, módulos de moedas, vantagens e resgates.</a:t>
            </a:r>
            <a:endParaRPr lang="en-US" sz="13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PROTÓTIPO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ESCOPO IMPLEMENTADO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o protótipo já permite fazer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 implementados ao longo das etapas e validados em testes relatados.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58368" y="2011680"/>
            <a:ext cx="36027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2240280"/>
            <a:ext cx="438912" cy="438912"/>
          </a:xfrm>
          <a:prstGeom prst="roundRect">
            <a:avLst>
              <a:gd name="adj" fmla="val 41667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2295144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99032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2843784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e empresa, com validações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4507992" y="2011680"/>
            <a:ext cx="36027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240280"/>
            <a:ext cx="438912" cy="438912"/>
          </a:xfrm>
          <a:prstGeom prst="roundRect">
            <a:avLst>
              <a:gd name="adj" fmla="val 41667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295144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48656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18304" y="2843784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Perfis, sessão e permissões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8357616" y="2011680"/>
            <a:ext cx="36027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1352" y="2240280"/>
            <a:ext cx="438912" cy="438912"/>
          </a:xfrm>
          <a:prstGeom prst="roundRect">
            <a:avLst>
              <a:gd name="adj" fmla="val 41667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31352" y="2295144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28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Moedas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67928" y="2843784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Cota semestral e transferências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658368" y="3730752"/>
            <a:ext cx="36027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" y="3959352"/>
            <a:ext cx="438912" cy="438912"/>
          </a:xfrm>
          <a:prstGeom prst="roundRect">
            <a:avLst>
              <a:gd name="adj" fmla="val 41667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401421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99032" y="3959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Extratos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68680" y="456285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e histórico de operações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4507992" y="3730752"/>
            <a:ext cx="36027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3959352"/>
            <a:ext cx="438912" cy="438912"/>
          </a:xfrm>
          <a:prstGeom prst="roundRect">
            <a:avLst>
              <a:gd name="adj" fmla="val 41667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401421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48656" y="3959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Vantagens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718304" y="456285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e CRUD por empresa</a:t>
            </a:r>
            <a:endParaRPr lang="en-US" sz="1210" dirty="0"/>
          </a:p>
        </p:txBody>
      </p:sp>
      <p:sp>
        <p:nvSpPr>
          <p:cNvPr id="38" name="Shape 36"/>
          <p:cNvSpPr/>
          <p:nvPr/>
        </p:nvSpPr>
        <p:spPr>
          <a:xfrm>
            <a:off x="8357616" y="3730752"/>
            <a:ext cx="3602736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59352"/>
            <a:ext cx="438912" cy="438912"/>
          </a:xfrm>
          <a:prstGeom prst="roundRect">
            <a:avLst>
              <a:gd name="adj" fmla="val 41667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1352" y="401421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098280" y="3959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Resgates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567928" y="456285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Desconto, cupom e registros</a:t>
            </a:r>
            <a:endParaRPr lang="en-US" sz="1210" dirty="0"/>
          </a:p>
        </p:txBody>
      </p:sp>
      <p:sp>
        <p:nvSpPr>
          <p:cNvPr id="43" name="Shape 41"/>
          <p:cNvSpPr/>
          <p:nvPr/>
        </p:nvSpPr>
        <p:spPr>
          <a:xfrm>
            <a:off x="658368" y="5687568"/>
            <a:ext cx="11292840" cy="466344"/>
          </a:xfrm>
          <a:prstGeom prst="roundRect">
            <a:avLst>
              <a:gd name="adj" fmla="val 33333"/>
            </a:avLst>
          </a:prstGeom>
          <a:solidFill>
            <a:srgbClr val="FFF2D6"/>
          </a:solidFill>
          <a:ln w="12700">
            <a:solidFill>
              <a:srgbClr val="F6E0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788152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875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NOTIFICAÇÕES: registros persistidos; SMTP real ainda depende de configuração (simulação já testada).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ARQUITETURA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MVC separa interface, regras e dados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organizada para manutenção, testes e evolução.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58368" y="2267712"/>
            <a:ext cx="31363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267712"/>
            <a:ext cx="3136392" cy="109728"/>
          </a:xfrm>
          <a:prstGeom prst="rect">
            <a:avLst>
              <a:gd name="adj" fmla="val 166667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3568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3026664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+ CSS + JS</a:t>
            </a:r>
            <a:endParaRPr lang="en-US" sz="1920" dirty="0"/>
          </a:p>
        </p:txBody>
      </p:sp>
      <p:sp>
        <p:nvSpPr>
          <p:cNvPr id="17" name="Text 15"/>
          <p:cNvSpPr/>
          <p:nvPr/>
        </p:nvSpPr>
        <p:spPr>
          <a:xfrm>
            <a:off x="877824" y="3685032"/>
            <a:ext cx="27706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Formulários, carteira, catálogo e cupons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4544568" y="2267712"/>
            <a:ext cx="31363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44568" y="2267712"/>
            <a:ext cx="3136392" cy="109728"/>
          </a:xfrm>
          <a:prstGeom prst="rect">
            <a:avLst>
              <a:gd name="adj" fmla="val 166667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4024" y="3026664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/ Spring MVC</a:t>
            </a:r>
            <a:endParaRPr lang="en-US" sz="1920" dirty="0"/>
          </a:p>
        </p:txBody>
      </p:sp>
      <p:sp>
        <p:nvSpPr>
          <p:cNvPr id="22" name="Text 20"/>
          <p:cNvSpPr/>
          <p:nvPr/>
        </p:nvSpPr>
        <p:spPr>
          <a:xfrm>
            <a:off x="4764024" y="3685032"/>
            <a:ext cx="27706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 requisições e valida entradas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8412480" y="2267712"/>
            <a:ext cx="31363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267712"/>
            <a:ext cx="3136392" cy="109728"/>
          </a:xfrm>
          <a:prstGeom prst="rect">
            <a:avLst>
              <a:gd name="adj" fmla="val 166667"/>
            </a:avLst>
          </a:prstGeom>
          <a:solidFill>
            <a:srgbClr val="D19A3E"/>
          </a:solidFill>
          <a:ln w="12700">
            <a:solidFill>
              <a:srgbClr val="D19A3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2587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D19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31936" y="3026664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+ Entidades</a:t>
            </a:r>
            <a:endParaRPr lang="en-US" sz="1920" dirty="0"/>
          </a:p>
        </p:txBody>
      </p:sp>
      <p:sp>
        <p:nvSpPr>
          <p:cNvPr id="27" name="Text 25"/>
          <p:cNvSpPr/>
          <p:nvPr/>
        </p:nvSpPr>
        <p:spPr>
          <a:xfrm>
            <a:off x="8631936" y="3685032"/>
            <a:ext cx="27706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 e persistência JPA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3822192" y="3337560"/>
            <a:ext cx="594360" cy="0"/>
          </a:xfrm>
          <a:prstGeom prst="line">
            <a:avLst/>
          </a:prstGeom>
          <a:noFill/>
          <a:ln w="25400">
            <a:solidFill>
              <a:srgbClr val="254DC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08392" y="3337560"/>
            <a:ext cx="585216" cy="0"/>
          </a:xfrm>
          <a:prstGeom prst="line">
            <a:avLst/>
          </a:prstGeom>
          <a:noFill/>
          <a:ln w="25400">
            <a:solidFill>
              <a:srgbClr val="254DC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847088" y="4928616"/>
            <a:ext cx="8503920" cy="768096"/>
          </a:xfrm>
          <a:prstGeom prst="roundRect">
            <a:avLst>
              <a:gd name="adj" fmla="val 23810"/>
            </a:avLst>
          </a:prstGeom>
          <a:solidFill>
            <a:srgbClr val="0A1830"/>
          </a:solidFill>
          <a:ln w="12700">
            <a:solidFill>
              <a:srgbClr val="0A183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Exemplo: resgatar vantagem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212080" y="5102352"/>
            <a:ext cx="4983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7D4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Clique  →  POST /api/resgates  →  regra de saldo  →  H2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MODELAGEM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Do diagrama de componentes ao código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modelagem orientou os pacotes e os fluxos da aplicação.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58368" y="1975104"/>
            <a:ext cx="10927080" cy="3529584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14" name="Image 0" descr="/mnt/data/Diagrama de compon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95144"/>
            <a:ext cx="10296144" cy="289864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13232" y="5815584"/>
            <a:ext cx="118872" cy="118872"/>
          </a:xfrm>
          <a:prstGeom prst="ellipse">
            <a:avLst>
              <a:gd name="adj" fmla="val 153846"/>
            </a:avLst>
          </a:prstGeom>
          <a:solidFill>
            <a:srgbClr val="3568F3"/>
          </a:solidFill>
          <a:ln w="12700">
            <a:solidFill>
              <a:srgbClr val="3568F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5733288"/>
            <a:ext cx="3648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 •  Interface do usuário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44568" y="5815584"/>
            <a:ext cx="118872" cy="118872"/>
          </a:xfrm>
          <a:prstGeom prst="ellipse">
            <a:avLst>
              <a:gd name="adj" fmla="val 153846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27448" y="5733288"/>
            <a:ext cx="3648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 •  Cadastro, autenticação, moedas, vantagens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75904" y="5815584"/>
            <a:ext cx="118872" cy="118872"/>
          </a:xfrm>
          <a:prstGeom prst="ellipse">
            <a:avLst>
              <a:gd name="adj" fmla="val 153846"/>
            </a:avLst>
          </a:prstGeom>
          <a:solidFill>
            <a:srgbClr val="D6A344"/>
          </a:solidFill>
          <a:ln w="12700">
            <a:solidFill>
              <a:srgbClr val="D6A344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5733288"/>
            <a:ext cx="3648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 •  Domínio, regras e persistência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PERSISTÊNCIA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JPA e Hibernate conectam objetos ao banco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em arquivo preserva os dados entre reinicializações no ambiente local.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58952" y="2148840"/>
            <a:ext cx="3154680" cy="1024128"/>
          </a:xfrm>
          <a:prstGeom prst="roundRect">
            <a:avLst>
              <a:gd name="adj" fmla="val 1517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2148840"/>
            <a:ext cx="82296" cy="1024128"/>
          </a:xfrm>
          <a:prstGeom prst="rect">
            <a:avLst>
              <a:gd name="adj" fmla="val 222222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USUÁRIOS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996696" y="277063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· senha hash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471416" y="2148840"/>
            <a:ext cx="3154680" cy="1024128"/>
          </a:xfrm>
          <a:prstGeom prst="roundRect">
            <a:avLst>
              <a:gd name="adj" fmla="val 1517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2148840"/>
            <a:ext cx="82296" cy="1024128"/>
          </a:xfrm>
          <a:prstGeom prst="rect">
            <a:avLst>
              <a:gd name="adj" fmla="val 222222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CONTAS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4709160" y="277063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· versão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183880" y="2148840"/>
            <a:ext cx="3154680" cy="1024128"/>
          </a:xfrm>
          <a:prstGeom prst="roundRect">
            <a:avLst>
              <a:gd name="adj" fmla="val 1517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2148840"/>
            <a:ext cx="82296" cy="1024128"/>
          </a:xfrm>
          <a:prstGeom prst="rect">
            <a:avLst>
              <a:gd name="adj" fmla="val 222222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1624" y="23500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TRANSAÇÕES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8421624" y="277063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· tipo · motivo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58952" y="4069080"/>
            <a:ext cx="3154680" cy="1024128"/>
          </a:xfrm>
          <a:prstGeom prst="roundRect">
            <a:avLst>
              <a:gd name="adj" fmla="val 1517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069080"/>
            <a:ext cx="82296" cy="1024128"/>
          </a:xfrm>
          <a:prstGeom prst="rect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" y="42702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/ PROFESSOR</a:t>
            </a:r>
            <a:endParaRPr lang="en-US" sz="1360" dirty="0"/>
          </a:p>
        </p:txBody>
      </p:sp>
      <p:sp>
        <p:nvSpPr>
          <p:cNvPr id="28" name="Text 26"/>
          <p:cNvSpPr/>
          <p:nvPr/>
        </p:nvSpPr>
        <p:spPr>
          <a:xfrm>
            <a:off x="996696" y="469087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perfis · instituição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471416" y="4069080"/>
            <a:ext cx="3154680" cy="1024128"/>
          </a:xfrm>
          <a:prstGeom prst="roundRect">
            <a:avLst>
              <a:gd name="adj" fmla="val 1517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71416" y="4069080"/>
            <a:ext cx="82296" cy="1024128"/>
          </a:xfrm>
          <a:prstGeom prst="rect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2702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VANTAGENS</a:t>
            </a:r>
            <a:endParaRPr lang="en-US" sz="1360" dirty="0"/>
          </a:p>
        </p:txBody>
      </p:sp>
      <p:sp>
        <p:nvSpPr>
          <p:cNvPr id="32" name="Text 30"/>
          <p:cNvSpPr/>
          <p:nvPr/>
        </p:nvSpPr>
        <p:spPr>
          <a:xfrm>
            <a:off x="4709160" y="469087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· custo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183880" y="4069080"/>
            <a:ext cx="3154680" cy="1024128"/>
          </a:xfrm>
          <a:prstGeom prst="roundRect">
            <a:avLst>
              <a:gd name="adj" fmla="val 1517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4069080"/>
            <a:ext cx="82296" cy="1024128"/>
          </a:xfrm>
          <a:prstGeom prst="rect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21624" y="42702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RESGATES</a:t>
            </a:r>
            <a:endParaRPr lang="en-US" sz="1360" dirty="0"/>
          </a:p>
        </p:txBody>
      </p:sp>
      <p:sp>
        <p:nvSpPr>
          <p:cNvPr id="36" name="Text 34"/>
          <p:cNvSpPr/>
          <p:nvPr/>
        </p:nvSpPr>
        <p:spPr>
          <a:xfrm>
            <a:off x="8421624" y="469087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· cupom único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3922776" y="2660904"/>
            <a:ext cx="493776" cy="0"/>
          </a:xfrm>
          <a:prstGeom prst="line">
            <a:avLst/>
          </a:prstGeom>
          <a:noFill/>
          <a:ln w="20320">
            <a:solidFill>
              <a:srgbClr val="7583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635240" y="2660904"/>
            <a:ext cx="493776" cy="0"/>
          </a:xfrm>
          <a:prstGeom prst="line">
            <a:avLst/>
          </a:prstGeom>
          <a:noFill/>
          <a:ln w="20320">
            <a:solidFill>
              <a:srgbClr val="7583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304288" y="3191256"/>
            <a:ext cx="0" cy="804672"/>
          </a:xfrm>
          <a:prstGeom prst="line">
            <a:avLst/>
          </a:prstGeom>
          <a:noFill/>
          <a:ln w="20320">
            <a:solidFill>
              <a:srgbClr val="7583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44184" y="3172968"/>
            <a:ext cx="0" cy="822960"/>
          </a:xfrm>
          <a:prstGeom prst="line">
            <a:avLst/>
          </a:prstGeom>
          <a:noFill/>
          <a:ln w="20320">
            <a:solidFill>
              <a:srgbClr val="7583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774936" y="3182112"/>
            <a:ext cx="0" cy="813816"/>
          </a:xfrm>
          <a:prstGeom prst="line">
            <a:avLst/>
          </a:prstGeom>
          <a:noFill/>
          <a:ln w="20320">
            <a:solidFill>
              <a:srgbClr val="7583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5840" y="5650992"/>
            <a:ext cx="10149840" cy="438912"/>
          </a:xfrm>
          <a:prstGeom prst="roundRect">
            <a:avLst>
              <a:gd name="adj" fmla="val 35417"/>
            </a:avLst>
          </a:prstGeom>
          <a:solidFill>
            <a:srgbClr val="E7E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70432" y="575157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@Entity  +  JpaRepository  +  @Transactional  →  mapeamento, consultas e consistência das operações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MOEDAS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REGRA DE NEGÓCIO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1.000 moedas por semestre — com acúmulo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crédito por período e saldo anterior preservado.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58368" y="2048256"/>
            <a:ext cx="7104888" cy="3557016"/>
          </a:xfrm>
          <a:prstGeom prst="roundRect">
            <a:avLst>
              <a:gd name="adj" fmla="val 4370"/>
            </a:avLst>
          </a:prstGeom>
          <a:solidFill>
            <a:srgbClr val="0A183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4712" y="3017520"/>
            <a:ext cx="1591056" cy="1591056"/>
          </a:xfrm>
          <a:prstGeom prst="ellipse">
            <a:avLst>
              <a:gd name="adj" fmla="val 11494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3127248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063240"/>
            <a:ext cx="15910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C7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118104" y="25694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D8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Crédito semestral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99816" y="30632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+1.000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136392" y="3968496"/>
            <a:ext cx="4251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6D5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moedas a cada novo semestre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10728" y="2276856"/>
            <a:ext cx="3355848" cy="969264"/>
          </a:xfrm>
          <a:prstGeom prst="roundRect">
            <a:avLst>
              <a:gd name="adj" fmla="val 1603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23957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restante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10076688" y="248716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110728" y="3401568"/>
            <a:ext cx="3355848" cy="969264"/>
          </a:xfrm>
          <a:prstGeom prst="roundRect">
            <a:avLst>
              <a:gd name="adj" fmla="val 1603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48472" y="35204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crédito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10076688" y="36118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+1.000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8110728" y="4526280"/>
            <a:ext cx="3355848" cy="969264"/>
          </a:xfrm>
          <a:prstGeom prst="roundRect">
            <a:avLst>
              <a:gd name="adj" fmla="val 1603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46451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atualizado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10076688" y="473659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1.200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68096" y="587959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Proteções: checagem por semestre • saldo suficiente • registro de transações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NEGÓCIO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JORNADA DE RESGATE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 carteira ao cupom em poucos passos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resgate reúne regras financeiras, catálogo e notificações.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76656" y="2093976"/>
            <a:ext cx="26791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368296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859536" y="310896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vantagem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364845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escolhe a oferta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201168" cy="0"/>
          </a:xfrm>
          <a:prstGeom prst="line">
            <a:avLst/>
          </a:prstGeom>
          <a:noFill/>
          <a:ln w="25400">
            <a:solidFill>
              <a:srgbClr val="3568F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66160" y="2093976"/>
            <a:ext cx="26791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2368296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8184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3749040" y="310896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saldo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364845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verifica moedas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227064" y="3108960"/>
            <a:ext cx="201168" cy="0"/>
          </a:xfrm>
          <a:prstGeom prst="line">
            <a:avLst/>
          </a:prstGeom>
          <a:noFill/>
          <a:ln w="25400">
            <a:solidFill>
              <a:srgbClr val="3568F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55664" y="2093976"/>
            <a:ext cx="26791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47688" y="2368296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6638544" y="310896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desconto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38544" y="364845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resgate e transação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9116568" y="3108960"/>
            <a:ext cx="201168" cy="0"/>
          </a:xfrm>
          <a:prstGeom prst="line">
            <a:avLst/>
          </a:prstGeom>
          <a:noFill/>
          <a:ln w="25400">
            <a:solidFill>
              <a:srgbClr val="3568F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45168" y="2093976"/>
            <a:ext cx="2679192" cy="214884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37192" y="2368296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37192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9528048" y="310896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Gerar cupom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28048" y="364845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único para conferência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1371600" y="4828032"/>
            <a:ext cx="9528048" cy="914400"/>
          </a:xfrm>
          <a:prstGeom prst="roundRect">
            <a:avLst>
              <a:gd name="adj" fmla="val 17000"/>
            </a:avLst>
          </a:prstGeom>
          <a:solidFill>
            <a:srgbClr val="E7F8F2"/>
          </a:solidFill>
          <a:ln w="12700">
            <a:solidFill>
              <a:srgbClr val="C8ED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82496" y="5102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3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moedas</a:t>
            </a:r>
            <a:endParaRPr lang="en-US" sz="2330" dirty="0"/>
          </a:p>
        </p:txBody>
      </p:sp>
      <p:sp>
        <p:nvSpPr>
          <p:cNvPr id="38" name="Text 36"/>
          <p:cNvSpPr/>
          <p:nvPr/>
        </p:nvSpPr>
        <p:spPr>
          <a:xfrm>
            <a:off x="3785616" y="51114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E85D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− 100</a:t>
            </a:r>
            <a:endParaRPr lang="en-US" sz="2040" dirty="0"/>
          </a:p>
        </p:txBody>
      </p:sp>
      <p:sp>
        <p:nvSpPr>
          <p:cNvPr id="39" name="Text 37"/>
          <p:cNvSpPr/>
          <p:nvPr/>
        </p:nvSpPr>
        <p:spPr>
          <a:xfrm>
            <a:off x="5138928" y="509320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3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50 moedas</a:t>
            </a:r>
            <a:endParaRPr lang="en-US" sz="2330" dirty="0"/>
          </a:p>
        </p:txBody>
      </p:sp>
      <p:sp>
        <p:nvSpPr>
          <p:cNvPr id="40" name="Shape 38"/>
          <p:cNvSpPr/>
          <p:nvPr/>
        </p:nvSpPr>
        <p:spPr>
          <a:xfrm>
            <a:off x="8357616" y="5129784"/>
            <a:ext cx="2157984" cy="310896"/>
          </a:xfrm>
          <a:prstGeom prst="roundRect">
            <a:avLst>
              <a:gd name="adj" fmla="val 58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49056" y="515721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CUPOM EMITIDO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SEGURANÇA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Autenticação, autorização e proteção dos dados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usuário acessa somente o que seu perfil permite.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85800" y="2194560"/>
            <a:ext cx="3118104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194560"/>
            <a:ext cx="3118104" cy="82296"/>
          </a:xfrm>
          <a:prstGeom prst="rect">
            <a:avLst>
              <a:gd name="adj" fmla="val 222222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4871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spc="10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05256" y="28986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" y="3511296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persistido no banco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35424" y="2194560"/>
            <a:ext cx="3118104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2194560"/>
            <a:ext cx="3118104" cy="82296"/>
          </a:xfrm>
          <a:prstGeom prst="rect">
            <a:avLst>
              <a:gd name="adj" fmla="val 222222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871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spc="100" kern="0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SESSÃO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754880" y="28986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3511296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e logout autenticados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75904" y="2194560"/>
            <a:ext cx="3118104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5904" y="2194560"/>
            <a:ext cx="3118104" cy="82296"/>
          </a:xfrm>
          <a:prstGeom prst="rect">
            <a:avLst>
              <a:gd name="adj" fmla="val 222222"/>
            </a:avLst>
          </a:prstGeom>
          <a:solidFill>
            <a:srgbClr val="C49134"/>
          </a:solidFill>
          <a:ln w="12700">
            <a:solidFill>
              <a:srgbClr val="C4913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4871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spc="100" kern="0" dirty="0">
                <a:solidFill>
                  <a:srgbClr val="C491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FORMULÁRIOS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595360" y="28986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CSRF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95360" y="3511296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em operações de escrita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581144"/>
            <a:ext cx="10817352" cy="1005840"/>
          </a:xfrm>
          <a:prstGeom prst="roundRect">
            <a:avLst>
              <a:gd name="adj" fmla="val 15455"/>
            </a:avLst>
          </a:prstGeom>
          <a:solidFill>
            <a:srgbClr val="0A183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81888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AD8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PERMISSÕES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2752344" y="48006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ALUNO: resgata   •   PROFESSOR: envia moedas   •   EMPRESA: cadastra vantagens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" y="587044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também restringe alterações de cadastros e vantagens a seus proprietários.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QUALIDADE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Testes verificam as regras essenciais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JUnit, MockMvc, H2 em memória e testes funcionais no navegador.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13232" y="2039112"/>
            <a:ext cx="1067104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212848"/>
            <a:ext cx="265176" cy="265176"/>
          </a:xfrm>
          <a:prstGeom prst="ellipse">
            <a:avLst>
              <a:gd name="adj" fmla="val 68966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2128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16712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55848" y="2185416"/>
            <a:ext cx="7754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CPF e CNPJ com dígitos verificadores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713232" y="2779776"/>
            <a:ext cx="1067104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953512"/>
            <a:ext cx="265176" cy="265176"/>
          </a:xfrm>
          <a:prstGeom prst="ellipse">
            <a:avLst>
              <a:gd name="adj" fmla="val 68966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95351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29077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+ API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55848" y="2926080"/>
            <a:ext cx="7754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edição, exclusão e duplicidade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713232" y="3520440"/>
            <a:ext cx="1067104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694176"/>
            <a:ext cx="265176" cy="265176"/>
          </a:xfrm>
          <a:prstGeom prst="ellipse">
            <a:avLst>
              <a:gd name="adj" fmla="val 68966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6941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6484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55848" y="3666744"/>
            <a:ext cx="7754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Login, permissões e CSRF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713232" y="4261104"/>
            <a:ext cx="1067104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434840"/>
            <a:ext cx="265176" cy="265176"/>
          </a:xfrm>
          <a:prstGeom prst="ellipse">
            <a:avLst>
              <a:gd name="adj" fmla="val 68966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43484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43891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MOEDAS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355848" y="4407408"/>
            <a:ext cx="7754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Cota semestral, transferência e extrato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713232" y="5001768"/>
            <a:ext cx="1067104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5175504"/>
            <a:ext cx="265176" cy="265176"/>
          </a:xfrm>
          <a:prstGeom prst="ellipse">
            <a:avLst>
              <a:gd name="adj" fmla="val 68966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17550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63040" y="512978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RESGATES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355848" y="5148072"/>
            <a:ext cx="7754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Débito, cupom, saldo insuficiente e acesso</a:t>
            </a:r>
            <a:endParaRPr lang="en-US" sz="1210" dirty="0"/>
          </a:p>
        </p:txBody>
      </p:sp>
      <p:sp>
        <p:nvSpPr>
          <p:cNvPr id="38" name="Shape 36"/>
          <p:cNvSpPr/>
          <p:nvPr/>
        </p:nvSpPr>
        <p:spPr>
          <a:xfrm>
            <a:off x="758952" y="5989320"/>
            <a:ext cx="3337560" cy="310896"/>
          </a:xfrm>
          <a:prstGeom prst="roundRect">
            <a:avLst>
              <a:gd name="adj" fmla="val 58824"/>
            </a:avLst>
          </a:prstGeom>
          <a:solidFill>
            <a:srgbClr val="E7F8F2"/>
          </a:solidFill>
          <a:ln w="12700">
            <a:solidFill>
              <a:srgbClr val="E7F8F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6016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RELATADOS COMO APROVADOS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279392" y="5998464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cenários acima não substituem testes de carga e concorrência.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TUTORIAL TECNOLÓGICO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Como executar e entender uma requisição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a passo rápido do ambiente até o banco de dados.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31520" y="2039112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305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35608" y="205740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2862072" y="2066544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21  •  Maven / pom.xml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969264" y="2505456"/>
            <a:ext cx="0" cy="310896"/>
          </a:xfrm>
          <a:prstGeom prst="line">
            <a:avLst/>
          </a:prstGeom>
          <a:noFill/>
          <a:ln w="25400">
            <a:solidFill>
              <a:srgbClr val="DD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816352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0779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35608" y="283464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Execução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2862072" y="2843784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 → Executar e Depurar → Moeda Estudantil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969264" y="3282696"/>
            <a:ext cx="0" cy="310896"/>
          </a:xfrm>
          <a:prstGeom prst="line">
            <a:avLst/>
          </a:prstGeom>
          <a:noFill/>
          <a:ln w="25400">
            <a:solidFill>
              <a:srgbClr val="DD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593592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68503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35608" y="361188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2862072" y="3621024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localhost:8080 no navegador</a:t>
            </a:r>
            <a:endParaRPr lang="en-US" sz="1380" dirty="0"/>
          </a:p>
        </p:txBody>
      </p:sp>
      <p:sp>
        <p:nvSpPr>
          <p:cNvPr id="27" name="Shape 25"/>
          <p:cNvSpPr/>
          <p:nvPr/>
        </p:nvSpPr>
        <p:spPr>
          <a:xfrm>
            <a:off x="969264" y="4059936"/>
            <a:ext cx="0" cy="310896"/>
          </a:xfrm>
          <a:prstGeom prst="line">
            <a:avLst/>
          </a:prstGeom>
          <a:noFill/>
          <a:ln w="25400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370832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46227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35608" y="438912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Persistência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2862072" y="4398264"/>
            <a:ext cx="8394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em arquivo; nos testes, H2 em memória</a:t>
            </a:r>
            <a:endParaRPr lang="en-US" sz="1380" dirty="0"/>
          </a:p>
        </p:txBody>
      </p:sp>
      <p:sp>
        <p:nvSpPr>
          <p:cNvPr id="32" name="Shape 30"/>
          <p:cNvSpPr/>
          <p:nvPr/>
        </p:nvSpPr>
        <p:spPr>
          <a:xfrm>
            <a:off x="694944" y="5440680"/>
            <a:ext cx="10927080" cy="603504"/>
          </a:xfrm>
          <a:prstGeom prst="roundRect">
            <a:avLst>
              <a:gd name="adj" fmla="val 25758"/>
            </a:avLst>
          </a:prstGeom>
          <a:solidFill>
            <a:srgbClr val="0A1830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5614416"/>
            <a:ext cx="10351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código: @RestController  →  @Service / @Transactional  →  JpaRepository  →  H2</a:t>
            </a:r>
            <a:endParaRPr lang="en-US" sz="13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5 MIN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PROTÓTIPO AO VIVO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Demonstração de ponta a ponta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cenário simples evidencia a integração dos três perfis.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40664" y="1993392"/>
            <a:ext cx="10753344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2121408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221992"/>
            <a:ext cx="466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82496" y="21488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163824" y="2157984"/>
            <a:ext cx="7946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 → confirmar saldo → enviar 150 moedas com motivo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40664" y="2926080"/>
            <a:ext cx="10753344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" y="3054096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154680"/>
            <a:ext cx="466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82496" y="308152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3163824" y="3090672"/>
            <a:ext cx="7946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 → cadastrar vantagem de 100 moedas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740664" y="3858768"/>
            <a:ext cx="10753344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" y="3986784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54DCB"/>
          </a:solidFill>
          <a:ln w="12700">
            <a:solidFill>
              <a:srgbClr val="254DC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087368"/>
            <a:ext cx="466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82496" y="40142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163824" y="4023360"/>
            <a:ext cx="7946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 → consultar saldo/extrato → resgatar vantagem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740664" y="4791456"/>
            <a:ext cx="10753344" cy="777240"/>
          </a:xfrm>
          <a:prstGeom prst="roundRect">
            <a:avLst>
              <a:gd name="adj" fmla="val 20000"/>
            </a:avLst>
          </a:prstGeom>
          <a:solidFill>
            <a:srgbClr val="E7F8F2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4919472"/>
            <a:ext cx="466344" cy="466344"/>
          </a:xfrm>
          <a:prstGeom prst="roundRect">
            <a:avLst>
              <a:gd name="adj" fmla="val 39216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5020056"/>
            <a:ext cx="466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82496" y="4946904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3163824" y="4956048"/>
            <a:ext cx="7946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Conferir saldo restante, cupom e notificações simuladas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758952" y="5971032"/>
            <a:ext cx="10716768" cy="283464"/>
          </a:xfrm>
          <a:prstGeom prst="roundRect">
            <a:avLst>
              <a:gd name="adj" fmla="val 54839"/>
            </a:avLst>
          </a:prstGeom>
          <a:solidFill>
            <a:srgbClr val="FFF2D6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600760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855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EXEMPLO: professor 1.000 → transfere 150 | aluno 150 → resgata 100 → saldo 50</a:t>
            </a:r>
            <a:endParaRPr lang="en-US" sz="10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6868" cy="6858000"/>
          </a:xfrm>
          <a:prstGeom prst="rect">
            <a:avLst>
              <a:gd name="adj" fmla="val 210526"/>
            </a:avLst>
          </a:prstGeom>
          <a:solidFill>
            <a:srgbClr val="3AD8C1"/>
          </a:solidFill>
          <a:ln w="12700">
            <a:solidFill>
              <a:srgbClr val="3AD8C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54864"/>
            <a:ext cx="1371600" cy="1371600"/>
          </a:xfrm>
          <a:prstGeom prst="ellipse">
            <a:avLst>
              <a:gd name="adj" fmla="val 13333"/>
            </a:avLst>
          </a:prstGeom>
          <a:solidFill>
            <a:srgbClr val="EDF3FC"/>
          </a:solidFill>
          <a:ln w="12700">
            <a:solidFill>
              <a:srgbClr val="EDF3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7664" y="393192"/>
            <a:ext cx="667512" cy="667512"/>
          </a:xfrm>
          <a:prstGeom prst="ellipse">
            <a:avLst>
              <a:gd name="adj" fmla="val 27397"/>
            </a:avLst>
          </a:prstGeom>
          <a:solidFill>
            <a:srgbClr val="F7F9FD"/>
          </a:solidFill>
          <a:ln w="12700">
            <a:solidFill>
              <a:srgbClr val="F7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84048"/>
            <a:ext cx="1938528" cy="310896"/>
          </a:xfrm>
          <a:prstGeom prst="roundRect">
            <a:avLst>
              <a:gd name="adj" fmla="val 58824"/>
            </a:avLst>
          </a:prstGeom>
          <a:solidFill>
            <a:srgbClr val="E7EFFF"/>
          </a:solidFill>
          <a:ln w="12700">
            <a:solidFill>
              <a:srgbClr val="E7E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329184"/>
            <a:ext cx="6949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20" kern="0" dirty="0">
                <a:solidFill>
                  <a:srgbClr val="254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AVALIAÇÃO CRÍTICA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713232"/>
            <a:ext cx="10744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A183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que está pronto — e o que evoluiria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640080" y="13807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 entre o protótipo acadêmico e uma versão de produção.</a:t>
            </a:r>
            <a:endParaRPr lang="en-US" sz="1310" dirty="0"/>
          </a:p>
        </p:txBody>
      </p:sp>
      <p:sp>
        <p:nvSpPr>
          <p:cNvPr id="10" name="Shape 8"/>
          <p:cNvSpPr/>
          <p:nvPr/>
        </p:nvSpPr>
        <p:spPr>
          <a:xfrm>
            <a:off x="612648" y="6519672"/>
            <a:ext cx="10936224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5928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5" kern="0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/  PROJETO DE SOFTWARE  /  LAB 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25912" y="6583680"/>
            <a:ext cx="8046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58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13232" y="2011680"/>
            <a:ext cx="5212080" cy="3364992"/>
          </a:xfrm>
          <a:prstGeom prst="roundRect">
            <a:avLst>
              <a:gd name="adj" fmla="val 462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011680"/>
            <a:ext cx="5212080" cy="91440"/>
          </a:xfrm>
          <a:prstGeom prst="rect">
            <a:avLst>
              <a:gd name="adj" fmla="val 200000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21A6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PRONTO PARA DEMONSTRAR</a:t>
            </a:r>
            <a:endParaRPr lang="en-US" sz="1310" dirty="0"/>
          </a:p>
        </p:txBody>
      </p:sp>
      <p:sp>
        <p:nvSpPr>
          <p:cNvPr id="16" name="Shape 14"/>
          <p:cNvSpPr/>
          <p:nvPr/>
        </p:nvSpPr>
        <p:spPr>
          <a:xfrm>
            <a:off x="1005840" y="2944368"/>
            <a:ext cx="96926" cy="96926"/>
          </a:xfrm>
          <a:prstGeom prst="ellipse">
            <a:avLst>
              <a:gd name="adj" fmla="val 188680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843784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e permissões dos três perfis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1005840" y="3483864"/>
            <a:ext cx="96926" cy="96926"/>
          </a:xfrm>
          <a:prstGeom prst="ellipse">
            <a:avLst>
              <a:gd name="adj" fmla="val 188680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383280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Moedas, transferências e extratos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1005840" y="4023360"/>
            <a:ext cx="96926" cy="96926"/>
          </a:xfrm>
          <a:prstGeom prst="ellipse">
            <a:avLst>
              <a:gd name="adj" fmla="val 188680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922776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Vantagens, resgates e cupons</a:t>
            </a:r>
            <a:endParaRPr lang="en-US" sz="1330" dirty="0"/>
          </a:p>
        </p:txBody>
      </p:sp>
      <p:sp>
        <p:nvSpPr>
          <p:cNvPr id="22" name="Shape 20"/>
          <p:cNvSpPr/>
          <p:nvPr/>
        </p:nvSpPr>
        <p:spPr>
          <a:xfrm>
            <a:off x="1005840" y="4562856"/>
            <a:ext cx="96926" cy="96926"/>
          </a:xfrm>
          <a:prstGeom prst="ellipse">
            <a:avLst>
              <a:gd name="adj" fmla="val 188680"/>
            </a:avLst>
          </a:prstGeom>
          <a:solidFill>
            <a:srgbClr val="21A67D"/>
          </a:solidFill>
          <a:ln w="12700">
            <a:solidFill>
              <a:srgbClr val="21A67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46227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 aprovados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6190488" y="2011680"/>
            <a:ext cx="5212080" cy="3364992"/>
          </a:xfrm>
          <a:prstGeom prst="roundRect">
            <a:avLst>
              <a:gd name="adj" fmla="val 462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2011680"/>
            <a:ext cx="5212080" cy="91440"/>
          </a:xfrm>
          <a:prstGeom prst="rect">
            <a:avLst>
              <a:gd name="adj" fmla="val 200000"/>
            </a:avLst>
          </a:prstGeom>
          <a:solidFill>
            <a:srgbClr val="D3A047"/>
          </a:solidFill>
          <a:ln w="12700">
            <a:solidFill>
              <a:srgbClr val="D3A04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33172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9C7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APRIMORAMENTOS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6473952" y="2944368"/>
            <a:ext cx="96926" cy="96926"/>
          </a:xfrm>
          <a:prstGeom prst="ellipse">
            <a:avLst>
              <a:gd name="adj" fmla="val 188680"/>
            </a:avLst>
          </a:prstGeom>
          <a:solidFill>
            <a:srgbClr val="D3A047"/>
          </a:solidFill>
          <a:ln w="12700">
            <a:solidFill>
              <a:srgbClr val="D3A0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2843784"/>
            <a:ext cx="4361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real + reenvio confiável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6473952" y="3483864"/>
            <a:ext cx="96926" cy="96926"/>
          </a:xfrm>
          <a:prstGeom prst="ellipse">
            <a:avLst>
              <a:gd name="adj" fmla="val 188680"/>
            </a:avLst>
          </a:prstGeom>
          <a:solidFill>
            <a:srgbClr val="D3A047"/>
          </a:solidFill>
          <a:ln w="12700">
            <a:solidFill>
              <a:srgbClr val="D3A04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3383280"/>
            <a:ext cx="4361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Conferência formal do cupom pela empresa</a:t>
            </a:r>
            <a:endParaRPr lang="en-US" sz="1310" dirty="0"/>
          </a:p>
        </p:txBody>
      </p:sp>
      <p:sp>
        <p:nvSpPr>
          <p:cNvPr id="31" name="Shape 29"/>
          <p:cNvSpPr/>
          <p:nvPr/>
        </p:nvSpPr>
        <p:spPr>
          <a:xfrm>
            <a:off x="6473952" y="4023360"/>
            <a:ext cx="96926" cy="96926"/>
          </a:xfrm>
          <a:prstGeom prst="ellipse">
            <a:avLst>
              <a:gd name="adj" fmla="val 188680"/>
            </a:avLst>
          </a:prstGeom>
          <a:solidFill>
            <a:srgbClr val="D3A047"/>
          </a:solidFill>
          <a:ln w="12700">
            <a:solidFill>
              <a:srgbClr val="D3A04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922776"/>
            <a:ext cx="4361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de concorrência e mais cenários</a:t>
            </a:r>
            <a:endParaRPr lang="en-US" sz="1310" dirty="0"/>
          </a:p>
        </p:txBody>
      </p:sp>
      <p:sp>
        <p:nvSpPr>
          <p:cNvPr id="33" name="Shape 31"/>
          <p:cNvSpPr/>
          <p:nvPr/>
        </p:nvSpPr>
        <p:spPr>
          <a:xfrm>
            <a:off x="6473952" y="4562856"/>
            <a:ext cx="96926" cy="96926"/>
          </a:xfrm>
          <a:prstGeom prst="ellipse">
            <a:avLst>
              <a:gd name="adj" fmla="val 188680"/>
            </a:avLst>
          </a:prstGeom>
          <a:solidFill>
            <a:srgbClr val="D3A047"/>
          </a:solidFill>
          <a:ln w="12700">
            <a:solidFill>
              <a:srgbClr val="D3A04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462272"/>
            <a:ext cx="4361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0A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Publicação e ajustes de produção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786384" y="5779008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B6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protótipo atende ao fluxo central proposto no laboratório; pendências técnicas estão explicitadas.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51976" y="182880"/>
            <a:ext cx="3072384" cy="3072384"/>
          </a:xfrm>
          <a:prstGeom prst="ellipse">
            <a:avLst>
              <a:gd name="adj" fmla="val 5952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65208" y="4425696"/>
            <a:ext cx="2340864" cy="2340864"/>
          </a:xfrm>
          <a:prstGeom prst="ellipse">
            <a:avLst>
              <a:gd name="adj" fmla="val 7813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1432" y="1975104"/>
            <a:ext cx="1682496" cy="1682496"/>
          </a:xfrm>
          <a:prstGeom prst="ellipse">
            <a:avLst>
              <a:gd name="adj" fmla="val 10870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2084832"/>
            <a:ext cx="1463040" cy="1463040"/>
          </a:xfrm>
          <a:prstGeom prst="ellipse">
            <a:avLst>
              <a:gd name="adj" fmla="val 12500"/>
            </a:avLst>
          </a:prstGeom>
          <a:solidFill>
            <a:srgbClr val="102746"/>
          </a:solidFill>
          <a:ln w="12700">
            <a:solidFill>
              <a:srgbClr val="10274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71432" y="2020824"/>
            <a:ext cx="16824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C7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32104" y="704088"/>
            <a:ext cx="2578608" cy="310896"/>
          </a:xfrm>
          <a:prstGeom prst="roundRect">
            <a:avLst>
              <a:gd name="adj" fmla="val 58824"/>
            </a:avLst>
          </a:prstGeom>
          <a:solidFill>
            <a:srgbClr val="203A5E"/>
          </a:solidFill>
          <a:ln w="12700">
            <a:solidFill>
              <a:srgbClr val="203A5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73152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D8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03  •  CONCLUSÃO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554480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Um sistema, três perfis,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32104" y="21945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uma jornada completa.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41248" y="3182112"/>
            <a:ext cx="1024128" cy="82296"/>
          </a:xfrm>
          <a:prstGeom prst="roundRect">
            <a:avLst>
              <a:gd name="adj" fmla="val 222222"/>
            </a:avLst>
          </a:prstGeom>
          <a:solidFill>
            <a:srgbClr val="F5C76B"/>
          </a:solidFill>
          <a:ln w="12700">
            <a:solidFill>
              <a:srgbClr val="F5C76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776472"/>
            <a:ext cx="9601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30" dirty="0">
                <a:solidFill>
                  <a:srgbClr val="BFC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UML  →  Código MVC  →  Persistência  →  Protótipo testado</a:t>
            </a:r>
            <a:endParaRPr lang="en-US" sz="1830" dirty="0"/>
          </a:p>
        </p:txBody>
      </p:sp>
      <p:sp>
        <p:nvSpPr>
          <p:cNvPr id="13" name="Text 11"/>
          <p:cNvSpPr/>
          <p:nvPr/>
        </p:nvSpPr>
        <p:spPr>
          <a:xfrm>
            <a:off x="841248" y="52669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D8C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OBRIGADO!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6245352"/>
            <a:ext cx="8778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 Minas  •  Projeto de Software  •  Laboratório 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PUC Minas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Moeda Estudantil | Sprint 03</dc:title>
  <dc:subject>Apresentacao Sprint 03 - Sistema de Moeda Estudantil</dc:subject>
  <dc:creator>Equipe Moeda Estudantil</dc:creator>
  <cp:lastModifiedBy>Equipe Moeda Estudantil</cp:lastModifiedBy>
  <cp:revision>1</cp:revision>
  <dcterms:created xsi:type="dcterms:W3CDTF">2026-10-31T01:31:50Z</dcterms:created>
  <dcterms:modified xsi:type="dcterms:W3CDTF">2026-10-31T01:31:50Z</dcterms:modified>
</cp:coreProperties>
</file>